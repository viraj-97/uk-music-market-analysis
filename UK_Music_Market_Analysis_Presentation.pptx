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666" y="1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3711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364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9151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09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24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493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019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836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7227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4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9107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9303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4960137"/>
            <a:ext cx="6172200" cy="1463040"/>
          </a:xfrm>
        </p:spPr>
        <p:txBody>
          <a:bodyPr>
            <a:normAutofit fontScale="90000"/>
          </a:bodyPr>
          <a:lstStyle/>
          <a:p>
            <a:r>
              <a:rPr b="1" dirty="0"/>
              <a:t>UK Top 50 Playlist Market Structure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latin typeface="Franklin Gothic Medium" panose="020B0603020102020204" pitchFamily="34" charset="0"/>
              </a:rPr>
              <a:t>Prithviraj Sahu</a:t>
            </a:r>
          </a:p>
          <a:p>
            <a:r>
              <a:rPr dirty="0">
                <a:latin typeface="Franklin Gothic Medium" panose="020B0603020102020204" pitchFamily="34" charset="0"/>
              </a:rPr>
              <a:t>Data Analyst Intern</a:t>
            </a:r>
          </a:p>
          <a:p>
            <a:r>
              <a:rPr dirty="0">
                <a:latin typeface="Franklin Gothic Medium" panose="020B0603020102020204" pitchFamily="34" charset="0"/>
              </a:rPr>
              <a:t>Unified Mentor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Franklin Gothic Medium" panose="020B0603020102020204" pitchFamily="34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rial Narrow" panose="020B0606020202030204" pitchFamily="34" charset="0"/>
              </a:rPr>
              <a:t>Understand UK music market structure</a:t>
            </a:r>
          </a:p>
          <a:p>
            <a:r>
              <a:rPr dirty="0">
                <a:latin typeface="Arial Narrow" panose="020B0606020202030204" pitchFamily="34" charset="0"/>
              </a:rPr>
              <a:t>Analyze artist dominance and diversity</a:t>
            </a:r>
          </a:p>
          <a:p>
            <a:r>
              <a:rPr dirty="0">
                <a:latin typeface="Arial Narrow" panose="020B0606020202030204" pitchFamily="34" charset="0"/>
              </a:rPr>
              <a:t>Study collaboration trends</a:t>
            </a:r>
          </a:p>
          <a:p>
            <a:r>
              <a:rPr dirty="0">
                <a:latin typeface="Arial Narrow" panose="020B0606020202030204" pitchFamily="34" charset="0"/>
              </a:rPr>
              <a:t>Evaluate explicit content impact</a:t>
            </a:r>
          </a:p>
          <a:p>
            <a:r>
              <a:rPr dirty="0">
                <a:latin typeface="Arial Narrow" panose="020B0606020202030204" pitchFamily="34" charset="0"/>
              </a:rPr>
              <a:t>Compare single vs album release strategy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Franklin Gothic Medium" panose="020B0603020102020204" pitchFamily="34" charset="0"/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rial Narrow" panose="020B0606020202030204" pitchFamily="34" charset="0"/>
              </a:rPr>
              <a:t>Total Records: 27,800</a:t>
            </a:r>
          </a:p>
          <a:p>
            <a:r>
              <a:rPr dirty="0">
                <a:latin typeface="Arial Narrow" panose="020B0606020202030204" pitchFamily="34" charset="0"/>
              </a:rPr>
              <a:t>Time Coverage: 556 days</a:t>
            </a:r>
          </a:p>
          <a:p>
            <a:r>
              <a:rPr dirty="0">
                <a:latin typeface="Arial Narrow" panose="020B0606020202030204" pitchFamily="34" charset="0"/>
              </a:rPr>
              <a:t>Playlist: UK Top 50</a:t>
            </a:r>
          </a:p>
          <a:p>
            <a:r>
              <a:rPr dirty="0">
                <a:latin typeface="Arial Narrow" panose="020B0606020202030204" pitchFamily="34" charset="0"/>
              </a:rPr>
              <a:t>Includes artist, song, popularity, duration, album type, explicit content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8375904" cy="1499616"/>
          </a:xfrm>
        </p:spPr>
        <p:txBody>
          <a:bodyPr>
            <a:normAutofit/>
          </a:bodyPr>
          <a:lstStyle/>
          <a:p>
            <a:r>
              <a:rPr sz="4000" b="1" dirty="0">
                <a:latin typeface="Franklin Gothic Medium" panose="020B0603020102020204" pitchFamily="34" charset="0"/>
              </a:rPr>
              <a:t>Tools and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rial Narrow" panose="020B0606020202030204" pitchFamily="34" charset="0"/>
              </a:rPr>
              <a:t>Python</a:t>
            </a:r>
          </a:p>
          <a:p>
            <a:r>
              <a:rPr dirty="0">
                <a:latin typeface="Arial Narrow" panose="020B0606020202030204" pitchFamily="34" charset="0"/>
              </a:rPr>
              <a:t>Pandas</a:t>
            </a:r>
          </a:p>
          <a:p>
            <a:r>
              <a:rPr dirty="0" err="1">
                <a:latin typeface="Arial Narrow" panose="020B0606020202030204" pitchFamily="34" charset="0"/>
              </a:rPr>
              <a:t>Plotly</a:t>
            </a:r>
            <a:endParaRPr dirty="0">
              <a:latin typeface="Arial Narrow" panose="020B0606020202030204" pitchFamily="34" charset="0"/>
            </a:endParaRPr>
          </a:p>
          <a:p>
            <a:r>
              <a:rPr dirty="0" err="1">
                <a:latin typeface="Arial Narrow" panose="020B0606020202030204" pitchFamily="34" charset="0"/>
              </a:rPr>
              <a:t>Streamlit</a:t>
            </a:r>
            <a:endParaRPr dirty="0">
              <a:latin typeface="Arial Narrow" panose="020B0606020202030204" pitchFamily="34" charset="0"/>
            </a:endParaRPr>
          </a:p>
          <a:p>
            <a:r>
              <a:rPr dirty="0" err="1">
                <a:latin typeface="Arial Narrow" panose="020B0606020202030204" pitchFamily="34" charset="0"/>
              </a:rPr>
              <a:t>Jupyter</a:t>
            </a:r>
            <a:r>
              <a:rPr dirty="0">
                <a:latin typeface="Arial Narrow" panose="020B0606020202030204" pitchFamily="34" charset="0"/>
              </a:rPr>
              <a:t> Notebook</a:t>
            </a:r>
          </a:p>
          <a:p>
            <a:r>
              <a:rPr dirty="0">
                <a:latin typeface="Arial Narrow" panose="020B0606020202030204" pitchFamily="34" charset="0"/>
              </a:rPr>
              <a:t>GitHub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1338" y="585216"/>
            <a:ext cx="8422661" cy="1499616"/>
          </a:xfrm>
        </p:spPr>
        <p:txBody>
          <a:bodyPr>
            <a:normAutofit/>
          </a:bodyPr>
          <a:lstStyle/>
          <a:p>
            <a:r>
              <a:rPr sz="3600" b="1" dirty="0">
                <a:latin typeface="Franklin Gothic Medium" panose="020B0603020102020204" pitchFamily="34" charset="0"/>
              </a:rPr>
              <a:t>Data Cleaning and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rial Narrow" panose="020B0606020202030204" pitchFamily="34" charset="0"/>
              </a:rPr>
              <a:t>Removed duplicate records</a:t>
            </a:r>
          </a:p>
          <a:p>
            <a:r>
              <a:rPr dirty="0">
                <a:latin typeface="Arial Narrow" panose="020B0606020202030204" pitchFamily="34" charset="0"/>
              </a:rPr>
              <a:t>Converted date format</a:t>
            </a:r>
          </a:p>
          <a:p>
            <a:r>
              <a:rPr dirty="0">
                <a:latin typeface="Arial Narrow" panose="020B0606020202030204" pitchFamily="34" charset="0"/>
              </a:rPr>
              <a:t>Converted duration to minutes</a:t>
            </a:r>
          </a:p>
          <a:p>
            <a:r>
              <a:rPr dirty="0">
                <a:latin typeface="Arial Narrow" panose="020B0606020202030204" pitchFamily="34" charset="0"/>
              </a:rPr>
              <a:t>Split multi-artist collaborations</a:t>
            </a:r>
          </a:p>
          <a:p>
            <a:r>
              <a:rPr dirty="0">
                <a:latin typeface="Arial Narrow" panose="020B0606020202030204" pitchFamily="34" charset="0"/>
              </a:rPr>
              <a:t>Prepared clean dataset for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>
                <a:latin typeface="Franklin Gothic Medium" panose="020B0603020102020204" pitchFamily="34" charset="0"/>
              </a:rPr>
              <a:t>Key Performance 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rial Narrow" panose="020B0606020202030204" pitchFamily="34" charset="0"/>
              </a:rPr>
              <a:t>Unique Artists: 366</a:t>
            </a:r>
          </a:p>
          <a:p>
            <a:r>
              <a:rPr dirty="0">
                <a:latin typeface="Arial Narrow" panose="020B0606020202030204" pitchFamily="34" charset="0"/>
              </a:rPr>
              <a:t>Artist Concentration Index: 0.0104</a:t>
            </a:r>
          </a:p>
          <a:p>
            <a:r>
              <a:rPr dirty="0">
                <a:latin typeface="Arial Narrow" panose="020B0606020202030204" pitchFamily="34" charset="0"/>
              </a:rPr>
              <a:t>Collaboration Ratio: 59.35%</a:t>
            </a:r>
          </a:p>
          <a:p>
            <a:r>
              <a:rPr dirty="0">
                <a:latin typeface="Arial Narrow" panose="020B0606020202030204" pitchFamily="34" charset="0"/>
              </a:rPr>
              <a:t>Explicit Content Share: 36.92%</a:t>
            </a:r>
          </a:p>
          <a:p>
            <a:r>
              <a:rPr dirty="0">
                <a:latin typeface="Arial Narrow" panose="020B0606020202030204" pitchFamily="34" charset="0"/>
              </a:rPr>
              <a:t>Single Release Ratio: 64.18%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5" y="585216"/>
            <a:ext cx="8209649" cy="1499616"/>
          </a:xfrm>
        </p:spPr>
        <p:txBody>
          <a:bodyPr>
            <a:normAutofit/>
          </a:bodyPr>
          <a:lstStyle/>
          <a:p>
            <a:r>
              <a:rPr sz="3600" b="1" dirty="0">
                <a:latin typeface="Franklin Gothic Medium" panose="020B0603020102020204" pitchFamily="34" charset="0"/>
              </a:rPr>
              <a:t>Artist Dominance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rial Narrow" panose="020B0606020202030204" pitchFamily="34" charset="0"/>
              </a:rPr>
              <a:t>Market shows high artist diversity</a:t>
            </a:r>
          </a:p>
          <a:p>
            <a:r>
              <a:rPr dirty="0">
                <a:latin typeface="Arial Narrow" panose="020B0606020202030204" pitchFamily="34" charset="0"/>
              </a:rPr>
              <a:t>No single artist dominates completely</a:t>
            </a:r>
          </a:p>
          <a:p>
            <a:r>
              <a:rPr dirty="0">
                <a:latin typeface="Arial Narrow" panose="020B0606020202030204" pitchFamily="34" charset="0"/>
              </a:rPr>
              <a:t>Balanced competitive market structure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Franklin Gothic Medium" panose="020B0603020102020204" pitchFamily="34" charset="0"/>
              </a:rPr>
              <a:t>Collaboration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rial Narrow" panose="020B0606020202030204" pitchFamily="34" charset="0"/>
              </a:rPr>
              <a:t>59% tracks involve collaborations</a:t>
            </a:r>
          </a:p>
          <a:p>
            <a:r>
              <a:rPr dirty="0">
                <a:latin typeface="Arial Narrow" panose="020B0606020202030204" pitchFamily="34" charset="0"/>
              </a:rPr>
              <a:t>Collaborations increase visibility</a:t>
            </a:r>
          </a:p>
          <a:p>
            <a:r>
              <a:rPr dirty="0">
                <a:latin typeface="Arial Narrow" panose="020B0606020202030204" pitchFamily="34" charset="0"/>
              </a:rPr>
              <a:t>Important factor for chart success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8490204" cy="1499616"/>
          </a:xfrm>
        </p:spPr>
        <p:txBody>
          <a:bodyPr/>
          <a:lstStyle/>
          <a:p>
            <a:r>
              <a:rPr b="1" dirty="0">
                <a:latin typeface="Franklin Gothic Medium" panose="020B0603020102020204" pitchFamily="34" charset="0"/>
              </a:rPr>
              <a:t>Explicit Content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rial Narrow" panose="020B0606020202030204" pitchFamily="34" charset="0"/>
              </a:rPr>
              <a:t>Explicit content share is 36.92%</a:t>
            </a:r>
          </a:p>
          <a:p>
            <a:r>
              <a:rPr dirty="0">
                <a:latin typeface="Arial Narrow" panose="020B0606020202030204" pitchFamily="34" charset="0"/>
              </a:rPr>
              <a:t>Majority content is clean</a:t>
            </a:r>
          </a:p>
          <a:p>
            <a:r>
              <a:rPr dirty="0">
                <a:latin typeface="Arial Narrow" panose="020B0606020202030204" pitchFamily="34" charset="0"/>
              </a:rPr>
              <a:t>UK audience shows moderate sensitivity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5" y="585216"/>
            <a:ext cx="8459031" cy="1499616"/>
          </a:xfrm>
        </p:spPr>
        <p:txBody>
          <a:bodyPr/>
          <a:lstStyle/>
          <a:p>
            <a:r>
              <a:rPr b="1" dirty="0">
                <a:latin typeface="Franklin Gothic Medium" panose="020B0603020102020204" pitchFamily="34" charset="0"/>
              </a:rPr>
              <a:t>Single vs Album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rial Narrow" panose="020B0606020202030204" pitchFamily="34" charset="0"/>
              </a:rPr>
              <a:t>Single releases dominate market</a:t>
            </a:r>
          </a:p>
          <a:p>
            <a:r>
              <a:rPr dirty="0">
                <a:latin typeface="Arial Narrow" panose="020B0606020202030204" pitchFamily="34" charset="0"/>
              </a:rPr>
              <a:t>64% playlist entries are singles</a:t>
            </a:r>
          </a:p>
          <a:p>
            <a:r>
              <a:rPr dirty="0">
                <a:latin typeface="Arial Narrow" panose="020B0606020202030204" pitchFamily="34" charset="0"/>
              </a:rPr>
              <a:t>Companies should focus on single releases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9425386" cy="1499616"/>
          </a:xfrm>
        </p:spPr>
        <p:txBody>
          <a:bodyPr/>
          <a:lstStyle/>
          <a:p>
            <a:r>
              <a:rPr b="1" dirty="0">
                <a:latin typeface="Franklin Gothic Medium" panose="020B0603020102020204" pitchFamily="34" charset="0"/>
              </a:rPr>
              <a:t>Dashboard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rial Narrow" panose="020B0606020202030204" pitchFamily="34" charset="0"/>
              </a:rPr>
              <a:t>Interactive </a:t>
            </a:r>
            <a:r>
              <a:rPr dirty="0" err="1">
                <a:latin typeface="Arial Narrow" panose="020B0606020202030204" pitchFamily="34" charset="0"/>
              </a:rPr>
              <a:t>Streamlit</a:t>
            </a:r>
            <a:r>
              <a:rPr dirty="0">
                <a:latin typeface="Arial Narrow" panose="020B0606020202030204" pitchFamily="34" charset="0"/>
              </a:rPr>
              <a:t> dashboard created</a:t>
            </a:r>
          </a:p>
          <a:p>
            <a:r>
              <a:rPr dirty="0">
                <a:latin typeface="Arial Narrow" panose="020B0606020202030204" pitchFamily="34" charset="0"/>
              </a:rPr>
              <a:t>Displays KPIs and market insights</a:t>
            </a:r>
          </a:p>
          <a:p>
            <a:r>
              <a:rPr dirty="0">
                <a:latin typeface="Arial Narrow" panose="020B0606020202030204" pitchFamily="34" charset="0"/>
              </a:rPr>
              <a:t>Includes artist leaderboard and charts</a:t>
            </a:r>
          </a:p>
          <a:p>
            <a:r>
              <a:rPr dirty="0">
                <a:latin typeface="Arial Narrow" panose="020B0606020202030204" pitchFamily="34" charset="0"/>
              </a:rPr>
              <a:t>Helps business decision making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9AC860-BBBF-60F5-0986-060D26B3B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68" y="4229046"/>
            <a:ext cx="4081466" cy="20803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6EFD994-EDAA-A3EA-D3FB-B8289B97D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7061" y="4229046"/>
            <a:ext cx="4081466" cy="208031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Franklin Gothic Medium" panose="020B0603020102020204" pitchFamily="34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Franklin Gothic Medium" panose="020B0603020102020204" pitchFamily="34" charset="0"/>
              </a:rPr>
              <a:t>UK music market is highly diverse</a:t>
            </a:r>
          </a:p>
          <a:p>
            <a:r>
              <a:rPr dirty="0">
                <a:latin typeface="Franklin Gothic Medium" panose="020B0603020102020204" pitchFamily="34" charset="0"/>
              </a:rPr>
              <a:t>Collaborations play major role</a:t>
            </a:r>
          </a:p>
          <a:p>
            <a:r>
              <a:rPr dirty="0">
                <a:latin typeface="Franklin Gothic Medium" panose="020B0603020102020204" pitchFamily="34" charset="0"/>
              </a:rPr>
              <a:t>Single releases dominate</a:t>
            </a:r>
          </a:p>
          <a:p>
            <a:r>
              <a:rPr dirty="0">
                <a:latin typeface="Franklin Gothic Medium" panose="020B0603020102020204" pitchFamily="34" charset="0"/>
              </a:rPr>
              <a:t>Dashboard provides actionable insights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11</TotalTime>
  <Words>243</Words>
  <Application>Microsoft Office PowerPoint</Application>
  <PresentationFormat>On-screen Show (4:3)</PresentationFormat>
  <Paragraphs>62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 Narrow</vt:lpstr>
      <vt:lpstr>Franklin Gothic Medium</vt:lpstr>
      <vt:lpstr>Tw Cen MT</vt:lpstr>
      <vt:lpstr>Tw Cen MT Condensed</vt:lpstr>
      <vt:lpstr>Wingdings 3</vt:lpstr>
      <vt:lpstr>Integral</vt:lpstr>
      <vt:lpstr>UK Top 50 Playlist Market Structure Analysis</vt:lpstr>
      <vt:lpstr>Problem Statement</vt:lpstr>
      <vt:lpstr>Dataset Overview</vt:lpstr>
      <vt:lpstr>Tools and Technologies Used</vt:lpstr>
      <vt:lpstr>Data Cleaning and Preparation</vt:lpstr>
      <vt:lpstr>Key Performance Indicators</vt:lpstr>
      <vt:lpstr>Artist Dominance Analysis</vt:lpstr>
      <vt:lpstr>Collaboration Analysis</vt:lpstr>
      <vt:lpstr>Explicit Content Analysis</vt:lpstr>
      <vt:lpstr>Single vs Album Analysis</vt:lpstr>
      <vt:lpstr>Dashboard Development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Prithviraj Sahu</cp:lastModifiedBy>
  <cp:revision>4</cp:revision>
  <dcterms:created xsi:type="dcterms:W3CDTF">2013-01-27T09:14:16Z</dcterms:created>
  <dcterms:modified xsi:type="dcterms:W3CDTF">2026-02-15T16:50:23Z</dcterms:modified>
  <cp:category/>
</cp:coreProperties>
</file>